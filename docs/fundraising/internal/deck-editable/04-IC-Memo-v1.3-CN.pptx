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 appendix · Slide 1: Partner Summary / IC Memo</a:t>
            </a:r>
          </a:p>
          <a:p>
            <a:r>
              <a:t>IC / Partner Summary mode — complements the 15-slide main deck; do not replace Data Room diligence.</a:t>
            </a:r>
          </a:p>
          <a:p/>
          <a:p>
            <a:r>
              <a:t>中文：本附录为合伙人会前「决策脚手架」，数字与法律结论仍以签署与 NDA 材料为准。</a:t>
            </a:r>
          </a:p>
          <a:p/>
          <a:p>
            <a:r>
              <a:t>---</a:t>
            </a:r>
          </a:p>
          <a:p>
            <a:r>
              <a:t>用途：合伙人会前 10–15 分钟扫读；细节仍以 01→08 资料包与 NDA 材料为准。</a:t>
            </a:r>
          </a:p>
          <a:p>
            <a:r>
              <a:t>非投资建议；条款以签署文本为准。</a:t>
            </a:r>
          </a:p>
          <a:p>
            <a:r>
              <a:t>版式：本 Memo 每页可见字少于主 Deck，留白更大——**会前扫读**，非「缩小版路演」。</a:t>
            </a:r>
          </a:p>
          <a:p>
            <a:r>
              <a:t>Partner 常先 04 Deck 再回文本；默认读序以包内 00 导读首段（Pitch→Memo→FAQ→Demo，与 IR Markdown 真源一致）为准，本 IC 不与该读序冲突。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 appendix · Slide 2: Why Now（定性）</a:t>
            </a:r>
          </a:p>
          <a:p>
            <a:r>
              <a:t>IC / Partner Summary mode — complements the 15-slide main deck; do not replace Data Room diligence.</a:t>
            </a:r>
          </a:p>
          <a:p/>
          <a:p>
            <a:r>
              <a:t>中文：本附录为合伙人会前「决策脚手架」，数字与法律结论仍以签署与 NDA 材料为准。</a:t>
            </a:r>
          </a:p>
          <a:p/>
          <a:p>
            <a:r>
              <a:t>---</a:t>
            </a:r>
          </a:p>
          <a:p>
            <a:r>
              <a:t>主 Deck 第 6 页已列需求/供给/监管/窗口四卡；本页只补「为何不宜再拖」一句，避免 IC 与 Deck 完全同构空转。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 appendix · Slide 3: Why Us</a:t>
            </a:r>
          </a:p>
          <a:p>
            <a:r>
              <a:t>IC / Partner Summary mode — complements the 15-slide main deck; do not replace Data Room diligence.</a:t>
            </a:r>
          </a:p>
          <a:p/>
          <a:p>
            <a:r>
              <a:t>中文：本附录为合伙人会前「决策脚手架」，数字与法律结论仍以签署与 NDA 材料为准。</a:t>
            </a:r>
          </a:p>
          <a:p/>
          <a:p>
            <a:r>
              <a:t>---</a:t>
            </a:r>
          </a:p>
          <a:p>
            <a:r>
              <a:t>与主 Deck **第 7–8** 页口径一致；IC 速读三句上屏。</a:t>
            </a:r>
          </a:p>
          <a:p>
            <a:r>
              <a:t>互指：主 Deck **第 9 页** 系统性优势；**第 10 页** 已发布口径·披露边界（FeeRouter 为披露层术语；勿与 gas/罚没分母口头混用）。</a:t>
            </a:r>
          </a:p>
          <a:p>
            <a:r>
              <a:t>IR 备忘·合伙人会深问顺序：FAQ 28→3→23→29→30·主 Deck p13·18→20→31→16（对外 FAQ 无导航行，仅 Notes）。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 appendix · Slide 4: Why Win</a:t>
            </a:r>
          </a:p>
          <a:p>
            <a:r>
              <a:t>IC / Partner Summary mode — complements the 15-slide main deck; do not replace Data Room diligence.</a:t>
            </a:r>
          </a:p>
          <a:p/>
          <a:p>
            <a:r>
              <a:t>中文：本附录为合伙人会前「决策脚手架」，数字与法律结论仍以签署与 NDA 材料为准。</a:t>
            </a:r>
          </a:p>
          <a:p/>
          <a:p>
            <a:r>
              <a:t>---</a:t>
            </a:r>
          </a:p>
          <a:p>
            <a:r>
              <a:t>口播与主 Deck 第 12 页同页；无增量则快速过。</a:t>
            </a:r>
          </a:p>
          <a:p>
            <a:r>
              <a:t>互指：主 Deck **第 11 页** 路线图（四轨定性）；本 Why Win 与 **第 12 页** GTM 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 appendix · Slide 5: 主要风险（定性）</a:t>
            </a:r>
          </a:p>
          <a:p>
            <a:r>
              <a:t>IC / Partner Summary mode — complements the 15-slide main deck; do not replace Data Room diligence.</a:t>
            </a:r>
          </a:p>
          <a:p/>
          <a:p>
            <a:r>
              <a:t>中文：本附录为合伙人会前「决策脚手架」，数字与法律结论仍以签署与 NDA 材料为准。</a:t>
            </a:r>
          </a:p>
          <a:p/>
          <a:p>
            <a:r>
              <a:t>---</a:t>
            </a:r>
          </a:p>
          <a:p>
            <a:r>
              <a:t>口播不重复主 Deck 11 已述要点。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 appendix · Slide 6: 竞争格局与壁垒</a:t>
            </a:r>
          </a:p>
          <a:p>
            <a:r>
              <a:t>IC / Partner Summary mode — complements the 15-slide main deck; do not replace Data Room diligence.</a:t>
            </a:r>
          </a:p>
          <a:p/>
          <a:p>
            <a:r>
              <a:t>中文：本附录为合伙人会前「决策脚手架」，数字与法律结论仍以签署与 NDA 材料为准。</a:t>
            </a:r>
          </a:p>
          <a:p/>
          <a:p>
            <a:r>
              <a:t>---</a:t>
            </a:r>
          </a:p>
          <a:p>
            <a:r>
              <a:t>口播与主 Deck 第 13 页同页；无增量则快速过。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 appendix · Slide 7: 关键 DD 问题（公开边界）</a:t>
            </a:r>
          </a:p>
          <a:p>
            <a:r>
              <a:t>IC / Partner Summary mode — complements the 15-slide main deck; do not replace Data Room diligence.</a:t>
            </a:r>
          </a:p>
          <a:p/>
          <a:p>
            <a:r>
              <a:t>中文：本附录为合伙人会前「决策脚手架」，数字与法律结论仍以签署与 NDA 材料为准。</a:t>
            </a:r>
          </a:p>
          <a:p/>
          <a:p>
            <a:r>
              <a:t>---</a:t>
            </a:r>
          </a:p>
          <a:p>
            <a:r>
              <a:t>口播与主 Deck 第 15 页同页；无增量则快速过。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 appendix · Slide 8: 投资结论框架（非投资建议）</a:t>
            </a:r>
          </a:p>
          <a:p>
            <a:r>
              <a:t>IC / Partner Summary mode — complements the 15-slide main deck; do not replace Data Room diligence.</a:t>
            </a:r>
          </a:p>
          <a:p/>
          <a:p>
            <a:r>
              <a:t>中文：本附录为合伙人会前「决策脚手架」，数字与法律结论仍以签署与 NDA 材料为准。</a:t>
            </a:r>
          </a:p>
          <a:p/>
          <a:p>
            <a:r>
              <a:t>---</a:t>
            </a:r>
          </a:p>
          <a:p>
            <a:r>
              <a:t>本页仅为合伙人会议内部决策脚手架，不构成投资要约或估值暗示。</a:t>
            </a:r>
          </a:p>
          <a:p>
            <a:r>
              <a:t>DD 交换节奏：NDA 后约定对口会议与 06/07 材料索引时间窗（非估值承诺）。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384048"/>
            <a:ext cx="113141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DD4BF"/>
                </a:solidFill>
                <a:latin typeface="Microsoft YaHei"/>
              </a:defRPr>
            </a:pPr>
            <a:r>
              <a:t>保密 · 仅供合格对话方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13232"/>
            <a:ext cx="3686047" cy="274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9407143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Partner Summary / IC Memo</a:t>
            </a:r>
          </a:p>
          <a:p>
            <a:pPr>
              <a:spcBef>
                <a:spcPts val="400"/>
              </a:spcBef>
              <a:defRPr sz="2000">
                <a:solidFill>
                  <a:srgbClr val="2DD4BF"/>
                </a:solidFill>
                <a:latin typeface="Microsoft YaHei"/>
              </a:defRPr>
            </a:pPr>
            <a:r>
              <a:t>TravelTrust</a:t>
            </a:r>
          </a:p>
          <a:p>
            <a:pPr>
              <a:spcBef>
                <a:spcPts val="400"/>
              </a:spcBef>
              <a:defRPr sz="2000">
                <a:solidFill>
                  <a:srgbClr val="E2E8F0"/>
                </a:solidFill>
                <a:latin typeface="Microsoft YaHei"/>
              </a:defRPr>
            </a:pPr>
            <a:r>
              <a:t>基金合伙人会前摘要 · 口径与主 Deck / 白皮书一致 · 不新增披露数字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5806440"/>
            <a:ext cx="2377440" cy="347472"/>
          </a:xfrm>
          <a:prstGeom prst="roundRect">
            <a:avLst>
              <a:gd name="adj" fmla="val 35000"/>
            </a:avLst>
          </a:prstGeom>
          <a:solidFill>
            <a:srgbClr val="F1F5F9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TravelTrust IR · 版本 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Microsoft YaHei"/>
              </a:defRPr>
            </a:pPr>
            <a:r>
              <a:t>TravelTrust · 一般性信息 — 非要约 — 1.3     ·    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Microsoft YaHei"/>
              </a:defRPr>
            </a:pPr>
            <a:r>
              <a:t>时机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Why Now（定性）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69848"/>
            <a:ext cx="11314175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延迟成本（定性）：分销碎片化下，多一季「只有支付没有履约态」就多一季对账/争议与品牌税；**不**构成业绩承诺。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Microsoft YaHei"/>
              </a:defRPr>
            </a:pPr>
            <a:r>
              <a:t>TravelTrust · IC 附录 · 1.3 · 一般性信息 — 非要约     ·    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Microsoft YaHei"/>
              </a:defRPr>
            </a:pPr>
            <a:r>
              <a:t>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Why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平台赚服务费、抽成；旅费不算平台自有收入；TTG 只投票、非旅费支付工具。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0007" y="1069848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披露节奏：已发布公告与版本/环境标签（细则见白皮书）。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596896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「crypto upside」公开层：TTG=治理程序工具（非旅费支付）；**不**在包内写估值/必涨→同包 **FAQ 31**。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Microsoft YaHei"/>
              </a:defRPr>
            </a:pPr>
            <a:r>
              <a:t>TravelTrust · IC 附录 · 1.3 · 一般性信息 — 非要约     ·    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Microsoft YaHei"/>
              </a:defRPr>
            </a:pPr>
            <a:r>
              <a:t>增长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Why 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69848"/>
            <a:ext cx="11314175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结论（定性）：增长抓手在「可公示的渠道试点 + 履约/DMC 供给侧准备」叠合披露节奏，而不是先堆量再补披露。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与主 Deck **第 12 页**（Go-to-Market）同口径展开；此处仅会前列提纲。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Microsoft YaHei"/>
              </a:defRPr>
            </a:pPr>
            <a:r>
              <a:t>TravelTrust · IC 附录 · 1.3 · 一般性信息 — 非要约     ·    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Microsoft YaHei"/>
              </a:defRPr>
            </a:pPr>
            <a:r>
              <a:t>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主要风险（定性）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69848"/>
            <a:ext cx="11314175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结论（定性）：阶段主风险在「披露节奏—环境标签—合规/运营里程碑」能否被第三方复读验证，而非单点技术不可用。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口径与主 Deck **第 11 页** 及白皮书 `06` §11 同轨；此处为 IC 速记。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Microsoft YaHei"/>
              </a:defRPr>
            </a:pPr>
            <a:r>
              <a:t>TravelTrust · IC 附录 · 1.3 · 一般性信息 — 非要约     ·    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Microsoft YaHei"/>
              </a:defRPr>
            </a:pPr>
            <a:r>
              <a:t>格局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竞争格局与壁垒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69848"/>
            <a:ext cx="11314175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结论（定性）：护城河在旅行订单级的证据+托管+争议一体与切换成本，而不是再造一条通用支付通道。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与主 Deck **第 13 页**（竞争矩阵）同口径展开；此处仅会前列提纲。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Microsoft YaHei"/>
              </a:defRPr>
            </a:pPr>
            <a:r>
              <a:t>TravelTrust · IC 附录 · 1.3 · 一般性信息 — 非要约     ·    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Microsoft YaHei"/>
              </a:defRPr>
            </a:pPr>
            <a:r>
              <a:t>尽调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关键 DD 问题（公开边界）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5554675" cy="26060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27000" tIns="152400"/>
          <a:lstStyle/>
          <a:p>
            <a:pPr algn="ctr">
              <a:defRPr sz="1200">
                <a:solidFill>
                  <a:srgbClr val="0F172A"/>
                </a:solidFill>
                <a:latin typeface="Microsoft YaHei"/>
              </a:defRPr>
            </a:pPr>
            <a:r>
              <a:t>结论（定性）：公开边界止于会后读序与 NDA 后的定量/法律文本，口播现场不扩写为承诺。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69848"/>
            <a:ext cx="45720" cy="26060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60007" y="1069848"/>
            <a:ext cx="5554675" cy="26060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27000" tIns="152400"/>
          <a:lstStyle/>
          <a:p>
            <a:pPr algn="ctr">
              <a:defRPr sz="1200">
                <a:solidFill>
                  <a:srgbClr val="0F172A"/>
                </a:solidFill>
                <a:latin typeface="Microsoft YaHei"/>
              </a:defRPr>
            </a:pPr>
            <a:r>
              <a:t>与主 Deck **第 15 页**（诉求与下一步）同口径展开；此处仅会前列提纲。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0007" y="1069848"/>
            <a:ext cx="45720" cy="26060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Microsoft YaHei"/>
              </a:defRPr>
            </a:pPr>
            <a:r>
              <a:t>TravelTrust · IC 附录 · 1.3 · 一般性信息 — 非要约     ·    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Microsoft YaHei"/>
              </a:defRPr>
            </a:pPr>
            <a:r>
              <a:t>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投资结论框架（非投资建议）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结论槽位 A：是否认可「旅行履约信任栈」长期结构性需求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0007" y="1069848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结论槽位 B：是否接受当前阶段以演示链与已发布披露边界为主的风险收益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596896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300">
                <a:solidFill>
                  <a:srgbClr val="0F172A"/>
                </a:solidFill>
                <a:latin typeface="Microsoft YaHei"/>
              </a:defRPr>
            </a:pPr>
            <a:r>
              <a:t>结论槽位 C：下一步 — 深度材料（06/07）与条款仅在签署与 NDA 后推进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Microsoft YaHei"/>
              </a:defRPr>
            </a:pPr>
            <a:r>
              <a:t>TravelTrust · IC 附录 · 1.3 · 一般性信息 — 非要约     ·    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