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TravelTrust</a:t>
            </a:r>
          </a:p>
          <a:p>
            <a:r>
              <a:t>Cover: three-line tagline (what / rails / boundary); definition on slide 2.</a:t>
            </a:r>
          </a:p>
          <a:p/>
          <a:p>
            <a:r>
              <a:t>Paraphrase in short clauses; no unpublished numbers or rollout claims; no management promises by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TravelTrust</a:t>
            </a:r>
          </a:p>
          <a:p>
            <a:r>
              <a:t>On-slide: definition + boundary; positioning lives in notes to avoid crowding slide 2.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Positioning (notes only): consumer UX plus embeddable custody/dispute rails—no “flip incumbents overnight” claim; aligns with slide 9 summary in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Pain</a:t>
            </a:r>
          </a:p>
          <a:p>
            <a:r>
              <a:t>Three issues: facts don’t line up; disputes drag; two wallets or not.</a:t>
            </a:r>
          </a:p>
          <a:p/>
          <a:p>
            <a:r>
              <a:t>Paraphrase in short clauses; no unpublished numbers or rollout claims; no management promises by proxy.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Trip-order: align delivery and disputes · customer journey / fulfillment loop (one trip; no fee unpack here)</a:t>
            </a:r>
          </a:p>
          <a:p>
            <a:r>
              <a:t>Walk the loop once; pause at aligned delivery.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Opening line: one screen = one trip’s fulfillment path; no pools or ratios on this slide.</a:t>
            </a:r>
          </a:p>
          <a:p>
            <a:r>
              <a:t>Diagram-only trip loop; no figures beyond what’s in the pack.</a:t>
            </a:r>
          </a:p>
          <a:p>
            <a:r>
              <a:t>Vectors are a mental model only; open with environment labels: demo / testnet / prod per published releases (same discipline as slide 7).</a:t>
            </a:r>
          </a:p>
          <a:p>
            <a:r>
              <a:t>Sequence: find → book → align delivery → resolve issues → follow published disclosures.</a:t>
            </a:r>
          </a:p>
          <a:p>
            <a:r>
              <a:t>Progress and reach: stay on published disclosures; don’t imply undeclared scope or wider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Protocol stack · control plane — order rules &amp; responsibility slices (same trip; rules/disclosure/env; not a second journey slide)</a:t>
            </a:r>
          </a:p>
          <a:p>
            <a:r>
              <a:t>Vertical stack: same trip, responsibility slices (control plane); no off-pack numbers.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Opening line: same trip—this slide is the control stack, not a second storyline.</a:t>
            </a:r>
          </a:p>
          <a:p>
            <a:r>
              <a:t>Same single-trip logic; vertical stack shows responsibility slices (control plane); no new metrics off-pack.</a:t>
            </a:r>
          </a:p>
          <a:p>
            <a:r>
              <a:t>If the stack shows abbreviations: spell environment labels first, then layers—no implied full production before formal release.</a:t>
            </a:r>
          </a:p>
          <a:p>
            <a:r>
              <a:t>Same five-step sequence: find → book → align delivery → resolve issues → follow published disclosures.</a:t>
            </a:r>
          </a:p>
          <a:p>
            <a:r>
              <a:t>Progress and reach: stay on published disclosures; don’t imply undeclared scope. Names and splits—after the meeting; avoid blanket live claims before formal public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Why now (qualitative)</a:t>
            </a:r>
          </a:p>
          <a:p>
            <a:r>
              <a:t>Why now slide: four qualitative cards; no TAM absolutes; not a buy nudge.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Timing replay: window narrative reads against published §06 section refs, release dates, and env labels; industry ratio tables stay in NDA.</a:t>
            </a:r>
          </a:p>
          <a:p>
            <a:r>
              <a:t>Industry comps and tables usually need NDA; this isn’t a “buy now” nudge.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Three lines to remember</a:t>
            </a:r>
          </a:p>
          <a:p>
            <a:r>
              <a:t>Three lines: how we earn; TTG votes, doesn’t pay trips; disclosure cadence: published releases + version/env labels (Whitepaper).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Line 1: recurring revenue from service take; trip principal is not our own income.</a:t>
            </a:r>
          </a:p>
          <a:p>
            <a:r>
              <a:t>Lines 2–3 as on slide; don’t unpack disclosure rails on this slide.</a:t>
            </a:r>
          </a:p>
          <a:p>
            <a:r>
              <a:t>Three sentences carry the point; detail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One order: delivery aligned?</a:t>
            </a:r>
          </a:p>
          <a:p>
            <a:r>
              <a:t>One booking from order to aligned delivery; don’t go past published releases and environment labels.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Walk one booking to aligned delivery; don’t go past published releases and environment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System strengths (qualitative view: embeddable trust stack; moat in disclosure &amp; reconciliation)</a:t>
            </a:r>
          </a:p>
          <a:p>
            <a:r>
              <a:t>Strengths slide: five pillars on-slide; summary stays in notes—don’t repeat the whole vector story.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Summary (notes only): consumer UX + embeddable custody/dispute rails—no overnight flip claim.</a:t>
            </a:r>
          </a:p>
          <a:p>
            <a:r>
              <a:t>On-screen pillars only; keep one visual row for a fast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Published path · disclosure boundary (outer-ring disclosure | FeeRouter — published fee routing | on-slide published path only)</a:t>
            </a:r>
          </a:p>
          <a:p>
            <a:r>
              <a:t>Disclosure boundary slide: hold 100/45/55; footnote + WP keep denominators orthogonal—don’t blend with gas/slashing aloud.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Partner paraphrase (brief):</a:t>
            </a:r>
          </a:p>
          <a:p>
            <a:r>
              <a:t>Opening line: published disclosure boundary (outer ring); align denominators—not operating P&amp;L.</a:t>
            </a:r>
          </a:p>
          <a:p>
            <a:r>
              <a:t>Disclosure boundary diagram; slide stays 100/45/55 only.</a:t>
            </a:r>
          </a:p>
          <a:p>
            <a:r>
              <a:t>Verbal tripod (same as FAQ / Whitepaper): published 45/55 is the first split of allocatable order fees; gas/arbitration/slashing use different denominators.</a:t>
            </a:r>
          </a:p>
          <a:p>
            <a:r>
              <a:t>Disclosure·45%: country bucket; inner split in signed addenda.</a:t>
            </a:r>
          </a:p>
          <a:p>
            <a:r>
              <a:t>Disclosure·55%: Global Pool; inner split in signed addendum.</a:t>
            </a:r>
          </a:p>
          <a:p>
            <a:r>
              <a:t>Gas/arbitration isn’t this bucket; don’t mash with 45/55; wording in Whitepaper + 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11: Roadmap &amp; timing (qualitative)</a:t>
            </a:r>
          </a:p>
          <a:p>
            <a:r>
              <a:t>Roadmap slide: four qualitative tracks—not a dated commitment; numbers need source + environment label.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Four tracks: ship product, turn on-chain by country, grow channels, split compliance.</a:t>
            </a:r>
          </a:p>
          <a:p>
            <a:r>
              <a:t>Tracks are directional narrative—not performance guarantees or dated commitments.</a:t>
            </a:r>
          </a:p>
          <a:p>
            <a:r>
              <a:t>Numbers need source, date, and whether it’s demo, test, or live; check verbal figures against Finance handouts; governance signal and disclosure splits are spelled out in the Whitepaper.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12: Go-to-market</a:t>
            </a:r>
          </a:p>
          <a:p>
            <a:r>
              <a:t>Story arc: WhyWin (Problem→WhyNow→WhyUs→WhyWin→DD→Close map)</a:t>
            </a:r>
          </a:p>
          <a:p>
            <a:r>
              <a:t>Investor moment: excitement (cognitive→belief→evidence→excitement→diligence→convert)</a:t>
            </a:r>
          </a:p>
          <a:p>
            <a:r>
              <a:t>Scan pattern: F-layout (F=left-heavy; Z=corner anchors; center=diagram)</a:t>
            </a:r>
          </a:p>
          <a:p>
            <a:r>
              <a:t>Motion (optional in Keynote/PPT): GTM = execution proof; keep claims procedural not promotional.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Report channel pilots; DMC pilots; keep the four-track story coherent; quotes pre-cleared.</a:t>
            </a:r>
          </a:p>
          <a:p>
            <a:r>
              <a:t>GTM here is qualitative positioning—not a revenue or share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13: Competitive matrix (qualitative)</a:t>
            </a:r>
          </a:p>
          <a:p>
            <a:r>
              <a:t>Story arc: WhyWin (Problem→WhyNow→WhyUs→WhyWin→DD→Close map)</a:t>
            </a:r>
          </a:p>
          <a:p>
            <a:r>
              <a:t>Investor moment: excitement (cognitive→belief→evidence→excitement→diligence→convert)</a:t>
            </a:r>
          </a:p>
          <a:p>
            <a:r>
              <a:t>Scan pattern: F-layout (F=left-heavy; Z=corner anchors; center=diagram)</a:t>
            </a:r>
          </a:p>
          <a:p>
            <a:r>
              <a:t>Motion (optional in Keynote/PPT): Matrix: three columns one pass; footer fee line explicit.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Fees/allocations must match the same Whitepaper release; comparisons use Whitepaper + confidential tables.</a:t>
            </a:r>
          </a:p>
          <a:p>
            <a:r>
              <a:t>If you want the receipts: Whitepaper + the NDA room tables.</a:t>
            </a:r>
          </a:p>
          <a:p>
            <a:r>
              <a:t>IR memo · partner-meeting deep-dive order: FAQ 28→3→23→29→30→this slide→18→20→31→16 (not printed in the public FAQ PDF—notes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14: Narrative journey</a:t>
            </a:r>
          </a:p>
          <a:p>
            <a:r>
              <a:t>Story arc: ProofStack (Problem→WhyNow→WhyUs→WhyWin→DD→Close map)</a:t>
            </a:r>
          </a:p>
          <a:p>
            <a:r>
              <a:t>Investor moment: evidence (cognitive→belief→evidence→excitement→diligence→convert)</a:t>
            </a:r>
          </a:p>
          <a:p>
            <a:r>
              <a:t>Scan pattern: Z-layout (F=left-heavy; Z=corner anchors; center=diagram)</a:t>
            </a:r>
          </a:p>
          <a:p>
            <a:r>
              <a:t>Motion (optional in Keynote/PPT): Journey: left milestones → center fulfillment → right outcome.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Details live in the Whitepaper and NDA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15: Asks &amp; next conversation</a:t>
            </a:r>
          </a:p>
          <a:p>
            <a:r>
              <a:t>Story arc: Close (Problem→WhyNow→WhyUs→WhyWin→DD→Close map)</a:t>
            </a:r>
          </a:p>
          <a:p>
            <a:r>
              <a:t>Investor moment: convert (cognitive→belief→evidence→excitement→diligence→convert)</a:t>
            </a:r>
          </a:p>
          <a:p>
            <a:r>
              <a:t>Scan pattern: Z-layout (F=left-heavy; Z=corner anchors; center=diagram)</a:t>
            </a:r>
          </a:p>
          <a:p>
            <a:r>
              <a:t>Motion (optional in Keynote/PPT): Closing: asks + DD routing (FAQ, whitepaper, pack order); pause for questions.</a:t>
            </a:r>
          </a:p>
          <a:p/>
          <a:p>
            <a:r>
              <a:t>Paraphrase in short clauses; no unpublished numbers or rollout claims; no management promises by proxy.</a:t>
            </a:r>
          </a:p>
          <a:p/>
          <a:p>
            <a:r>
              <a:t>---</a:t>
            </a:r>
          </a:p>
          <a:p>
            <a:r>
              <a:t>Deck detail (speaker rehearsal—same lines you’d repeat after the meeting):</a:t>
            </a:r>
          </a:p>
          <a:p>
            <a:r>
              <a:t>Typical question: platform vs rails—both can fit; UX plus embeddable fulfillment/disputes.</a:t>
            </a:r>
          </a:p>
          <a:p>
            <a:r>
              <a:t>Governance signal and trip order funds state stay separate; chain details and environment under NDA.</a:t>
            </a:r>
          </a:p>
          <a:p>
            <a:r>
              <a:t>Non-real-time settlement: 45/55 is not the same denominator as penalties/arbitration charges—don’t blend them aloud.</a:t>
            </a:r>
          </a:p>
          <a:p>
            <a:r>
              <a:t>Quant and legal text after NDA; governed by signed documents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384048"/>
            <a:ext cx="113141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D4BF"/>
                </a:solidFill>
                <a:latin typeface="Segoe UI"/>
              </a:defRPr>
            </a:pPr>
            <a:r>
              <a:t>CONFIDENTIAL · QUALIFIED CONVERSATIONS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13232"/>
            <a:ext cx="3686047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960120"/>
            <a:ext cx="9407143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TravelTrust</a:t>
            </a:r>
          </a:p>
          <a:p>
            <a:pPr>
              <a:spcBef>
                <a:spcPts val="400"/>
              </a:spcBef>
              <a:defRPr sz="2200">
                <a:solidFill>
                  <a:srgbClr val="2DD4BF"/>
                </a:solidFill>
                <a:latin typeface="Segoe UI"/>
              </a:defRPr>
            </a:pPr>
            <a:r>
              <a:t>Trip-order fintech</a:t>
            </a:r>
          </a:p>
          <a:p>
            <a:pPr>
              <a:spcBef>
                <a:spcPts val="400"/>
              </a:spcBef>
              <a:defRPr sz="2200">
                <a:solidFill>
                  <a:srgbClr val="E2E8F0"/>
                </a:solidFill>
                <a:latin typeface="Segoe UI"/>
              </a:defRPr>
            </a:pPr>
            <a:r>
              <a:t>Custody · fulfillment · disputes for each trip order</a:t>
            </a:r>
          </a:p>
          <a:p>
            <a:pPr>
              <a:spcBef>
                <a:spcPts val="400"/>
              </a:spcBef>
              <a:defRPr sz="1900">
                <a:solidFill>
                  <a:srgbClr val="E2E8F0"/>
                </a:solidFill>
                <a:latin typeface="Segoe UI"/>
              </a:defRPr>
            </a:pPr>
            <a:r>
              <a:t>Disclosures follow published releases and the Whitepaper (product/legal anchor)</a:t>
            </a:r>
          </a:p>
          <a:p>
            <a:pPr>
              <a:spcBef>
                <a:spcPts val="400"/>
              </a:spcBef>
              <a:defRPr sz="1900">
                <a:solidFill>
                  <a:srgbClr val="E2E8F0"/>
                </a:solidFill>
                <a:latin typeface="Segoe UI"/>
              </a:defRPr>
            </a:pPr>
            <a:r>
              <a:t>Misread firewall: per-order trust + custody/disputes—not trip-pay plumbing, not mass-market OTA, not a token raise slide (same framing as Whitepaper §06 + FAQ).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5806440"/>
            <a:ext cx="2377440" cy="347472"/>
          </a:xfrm>
          <a:prstGeom prst="roundRect">
            <a:avLst>
              <a:gd name="adj" fmla="val 35000"/>
            </a:avLst>
          </a:prstGeom>
          <a:solidFill>
            <a:srgbClr val="F1F5F9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  <a:latin typeface="Segoe UI"/>
              </a:defRPr>
            </a:pPr>
            <a:r>
              <a:t>TravelTrust IR · Release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General information only — not an offer · 1.3     ·     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TravelTrust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Trip-order fintech: align delivery and disputes around each trip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Boundary: trip principal vs platform recurring revenue are disclosed separately; figures and terms follow the Whitepaper + NDA materials.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Why it matters (qualitative): fragmented distribution needs auditable order funds + fulfillment/dispute states—embeddable rails; no revenue forecast on these slides.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Why us anchor: trip funds / take / governance read on the same Whitepaper + FAQ sentences—not a generic pay-facade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362203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Facts don’t line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2975" y="1069848"/>
            <a:ext cx="362203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Reconciliation drag; weak audit trail on disputes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7039" y="1069848"/>
            <a:ext cx="3686047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Traveler vs platform order funds—who may release, unclear?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Trip-order: align delivery and disputes · customer journey / fulfillment loop (one trip; no fee unpack here)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2103120"/>
            <a:ext cx="1408826" cy="1023572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969750" y="3126692"/>
            <a:ext cx="538124" cy="1656175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28345" y="4782867"/>
            <a:ext cx="1741405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4690221" y="3126692"/>
            <a:ext cx="538124" cy="1656175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690221" y="2103120"/>
            <a:ext cx="1408827" cy="1023572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68112" y="1819655"/>
            <a:ext cx="12618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/>
          <a:lstStyle/>
          <a:p>
            <a:pPr algn="ctr">
              <a:defRPr sz="700">
                <a:solidFill>
                  <a:srgbClr val="64748B"/>
                </a:solidFill>
              </a:defRPr>
            </a:pPr>
            <a:r>
              <a:t>Find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6938" y="2843228"/>
            <a:ext cx="12618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/>
          <a:lstStyle/>
          <a:p>
            <a:pPr algn="ctr">
              <a:defRPr sz="700">
                <a:solidFill>
                  <a:srgbClr val="64748B"/>
                </a:solidFill>
              </a:defRPr>
            </a:pPr>
            <a:r>
              <a:t>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8814" y="4499403"/>
            <a:ext cx="12618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Align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7409" y="4499403"/>
            <a:ext cx="12618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Handle issues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9285" y="2843228"/>
            <a:ext cx="1261872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/>
          <a:lstStyle/>
          <a:p>
            <a:pPr algn="ctr">
              <a:defRPr sz="800">
                <a:solidFill>
                  <a:srgbClr val="0F172A"/>
                </a:solidFill>
              </a:defRPr>
            </a:pPr>
            <a:r>
              <a:t>Published disclosures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1324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Schematic: customer-journey fulfillment loop for one trip (read clockwise); detail in speaker notes / Whitepaper.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789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2296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1131417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Protocol stack · control plane — order rules &amp; responsibility slices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(same trip; rules/disclosure/env; not a second journey slide)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07008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207008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Find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048256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9504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889504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Align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30752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3730752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Handle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72000"/>
            <a:ext cx="2148840" cy="621792"/>
          </a:xfrm>
          <a:prstGeom prst="rect">
            <a:avLst/>
          </a:prstGeom>
          <a:solidFill>
            <a:srgbClr val="0A1628"/>
          </a:solidFill>
          <a:ln w="6350">
            <a:solidFill>
              <a:srgbClr val="0A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4572000"/>
            <a:ext cx="864108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Published disclosures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now (qualitative)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Demand: be real, not loud. (structure: Whitepaper §2.4)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Supply: reputation travels; align releases to published communications +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Regulatory: don’t mix traveler order funds state with platform earnings. (Whitepaper)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Window: splintered channels—align delivery first, then distribution. (same section) Replay anchor: published §06 refs + release dates + environment 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Three lines to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Platform take is ours; order funds state isn’t.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Governance signal: votes, not trip pay.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Disclosure cadence: published releases + version/env labels (details: Whitepaper). · Moat leans on replayable disclosure + recon.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ONE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One order: delivery aligned?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One order: book through to aligned delivery?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Scope: follow published releases and environment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Materials: FAQ + Whitepaper; keep published 45/55 allocatable-fee split verbally separate from chain ops fees / penalties.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789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2296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1131417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strengths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(qualitative view: embeddable trust stack; moat in disclosure &amp; reconciliation)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80160"/>
            <a:ext cx="11275770" cy="2606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127000" tIns="1524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Fulfillment · order alignment · delivery &amp; disputes · clear resolution · published releases/labels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80160"/>
            <a:ext cx="45720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789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2296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DISCLOSE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46888"/>
            <a:ext cx="11314175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Published path · disclosure boundary</a:t>
            </a:r>
          </a:p>
          <a:p>
            <a:pPr>
              <a:lnSpc>
                <a:spcPct val="105000"/>
              </a:lnSpc>
              <a:spcBef>
                <a:spcPts val="400"/>
              </a:spcBef>
              <a:defRPr sz="1200" b="0">
                <a:solidFill>
                  <a:srgbClr val="CBD5E1"/>
                </a:solidFill>
                <a:latin typeface="Segoe UI"/>
              </a:defRPr>
            </a:pPr>
            <a:r>
              <a:t>(outer-ring disclosure | FeeRouter — published fee routing | on-slide published path only)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0" y="2560320"/>
            <a:ext cx="0" cy="201168"/>
          </a:xfrm>
          <a:prstGeom prst="line">
            <a:avLst/>
          </a:prstGeom>
          <a:ln w="317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291839" y="2761488"/>
            <a:ext cx="274320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2761488"/>
            <a:ext cx="283464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39" y="2761488"/>
            <a:ext cx="0" cy="64008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761488"/>
            <a:ext cx="0" cy="64008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600200"/>
            <a:ext cx="51206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2540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Disclosure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Protocol economics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100% (Whitepaper)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788920"/>
            <a:ext cx="4389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45%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Allocatable fees · country bucket (layer 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88920"/>
            <a:ext cx="45720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620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55%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Allocatable fees · Global Pool (layer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5818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Disclosure boundary schematic (not a profit split; not trip-pay or token-raise plumbing; on-slide published path only) · Non-real-time settlement layer-1; orthogonal to gas / arbitration / slashing (see notes + Whitepaper).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Roadmap &amp; timing (qualitative)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Shape: disclose → pilot → expand (qualitative; no dated promise)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545336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Product: core path capability iteration (qualitative)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020824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On-chain: roll out by country/environment—published releases + environment 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496312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GTM: channel pilots aligned to disclosure cadence (pilot names only as already published—replayable)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971800"/>
            <a:ext cx="11314175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>
              <a:defRPr sz="1300">
                <a:solidFill>
                  <a:srgbClr val="0F172A"/>
                </a:solidFill>
                <a:latin typeface="Segoe UI"/>
              </a:defRPr>
            </a:pPr>
            <a:r>
              <a:t>Compliance &amp; ops cadence: quarterly metrics and internal milestones under 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Go-to-market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Supply: KYB + fulfillment +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Demand: disclosure + channel pilots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Channels: spell out channel pilots · order funds state separate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Wedge: guide/DMC regional pilots first (qualitative; disclosure tracks published releases + labels); stage win = pilots + disclosure cadence auditable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Competitive matrix (qualitative)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Web2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weak disputes</a:t>
            </a:r>
            <a:br/>
            <a:r>
              <a:t>Pattern: recon pain; weak auditable disputes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2975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On-chain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2975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no fulfillment stack</a:t>
            </a:r>
            <a:br/>
            <a:r>
              <a:t>Pattern: travel order state + custody rarely integrated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7039" y="1069848"/>
            <a:ext cx="3686047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TravelTrust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7039" y="1600200"/>
            <a:ext cx="3686047" cy="2487168"/>
          </a:xfrm>
          <a:prstGeom prst="roundRect">
            <a:avLst/>
          </a:prstGeom>
          <a:solidFill>
            <a:srgbClr val="F8FAFC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/>
          <a:lstStyle/>
          <a:p>
            <a:pPr algn="ctr">
              <a:defRPr sz="1100">
                <a:solidFill>
                  <a:srgbClr val="0F172A"/>
                </a:solidFill>
                <a:latin typeface="Segoe UI"/>
              </a:defRPr>
            </a:pPr>
            <a:r>
              <a:t>fulfillment stack</a:t>
            </a:r>
            <a:br/>
            <a:r>
              <a:t>Pattern: evidence + escrow + disputes in one integrated trip-order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4215384"/>
            <a:ext cx="113141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0">
                <a:solidFill>
                  <a:srgbClr val="64748B"/>
                </a:solidFill>
                <a:latin typeface="Segoe UI"/>
              </a:defRPr>
            </a:pPr>
            <a:r>
              <a:t>Switching cost: disclosure, recon, support, embed cutovers—see §10.2; not overnight.</a:t>
            </a:r>
            <a:br/>
            <a:r>
              <a:t>“Seven best-of-breed SaaS” bolt-ons: rarely one **trip-order spine** (evidence→escrow→dispute→reputation); see pack **FAQ #30**.</a:t>
            </a:r>
            <a:br/>
            <a:r>
              <a:t>Disclosure: follow the published Whitepaper; line-item tables in the NDA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Narrative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Alex↔Sam (pseudonyms): milestones &amp; quote → escrow visible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Fulfillment proofs and release / ruling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Non-real-time settlement footnote (denominators: Whitepaper)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Teaching case—not one live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>
    <p:fade/>
  </p:transition>
  <p:cSld>
    <p:bg>
      <p:bgPr>
        <a:solidFill>
          <a:srgbClr val="FCFD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9728"/>
            <a:ext cx="1131417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DD4BF"/>
                </a:solidFill>
                <a:latin typeface="Segoe UI"/>
              </a:defRPr>
            </a:pPr>
            <a: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10896"/>
            <a:ext cx="1131417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Asks &amp; next conversation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069848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Asks: trust · fulfillment ·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0007" y="1069848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Disclosure &amp; cadence: published releases + environment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596896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Next: platform vs rails can be discussed in parallel; quant + legal text after 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0007" y="2596896"/>
            <a:ext cx="5593079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After the meeting: FAQ → Whitepaper (keep published 45/55 split verbally separate from chain ops fees / penalties)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4123944"/>
            <a:ext cx="5529071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spcAft>
                <a:spcPts val="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“DD delta” index (under NDA): §06 cross-walk + env matrix + channel pilot list—index only; no undisclosed figures on this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5980176"/>
            <a:ext cx="1131417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TravelTrust · Release 1.3 · General information only — not an offer     ·   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