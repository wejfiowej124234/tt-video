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 appendix · Slide 1: Partner Summary / IC Memo</a:t>
            </a:r>
          </a:p>
          <a:p>
            <a:r>
              <a:t>IC / Partner Summary mode — complements the 15-slide main deck; do not replace Data Room diligence.</a:t>
            </a:r>
          </a:p>
          <a:p/>
          <a:p>
            <a:r>
              <a:t>IC-only scaffold; numbers and legal outcomes remain in signed + NDA materials.</a:t>
            </a:r>
          </a:p>
          <a:p/>
          <a:p>
            <a:r>
              <a:t>---</a:t>
            </a:r>
          </a:p>
          <a:p>
            <a:r>
              <a:t>Use: ~10–15 min IC skim; depth stays in pack 01→08 and under NDA.</a:t>
            </a:r>
          </a:p>
          <a:p>
            <a:r>
              <a:t>Not investment advice; terms only in signed documents.</a:t>
            </a:r>
          </a:p>
          <a:p>
            <a:r>
              <a:t>Typography: fewer on-slide bullets than the main deck—IC skim, not a shrunken roadshow.</a:t>
            </a:r>
          </a:p>
          <a:p>
            <a:r>
              <a:t>Many partners open 04 Deck first, then PDFs; default read order matches the pack 00 guide header (Pitch→Memo→FAQ→Demo)—this IC does not override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 appendix · Slide 2: Why now (qualitative)</a:t>
            </a:r>
          </a:p>
          <a:p>
            <a:r>
              <a:t>IC / Partner Summary mode — complements the 15-slide main deck; do not replace Data Room diligence.</a:t>
            </a:r>
          </a:p>
          <a:p/>
          <a:p>
            <a:r>
              <a:t>IC-only scaffold; numbers and legal outcomes remain in signed + NDA materials.</a:t>
            </a:r>
          </a:p>
          <a:p/>
          <a:p>
            <a:r>
              <a:t>---</a:t>
            </a:r>
          </a:p>
          <a:p>
            <a:r>
              <a:t>Main deck slide 6 already carries demand/supply/regulatory/window cards; this slide adds only the “why not wait” line so the IC memo isn’t a pure duplicate.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 appendix · Slide 3: Why us</a:t>
            </a:r>
          </a:p>
          <a:p>
            <a:r>
              <a:t>IC / Partner Summary mode — complements the 15-slide main deck; do not replace Data Room diligence.</a:t>
            </a:r>
          </a:p>
          <a:p/>
          <a:p>
            <a:r>
              <a:t>IC-only scaffold; numbers and legal outcomes remain in signed + NDA materials.</a:t>
            </a:r>
          </a:p>
          <a:p/>
          <a:p>
            <a:r>
              <a:t>---</a:t>
            </a:r>
          </a:p>
          <a:p>
            <a:r>
              <a:t>Aligned with main deck **slides 7–8**; IC skim: three short bullets on-slide.</a:t>
            </a:r>
          </a:p>
          <a:p>
            <a:r>
              <a:t>Cross-ref: main deck **slide 9** (system strengths); **slide 10** published disclosure boundary (FeeRouter is disclosure-layer wording—don’t blend denominators with gas/slashing aloud).</a:t>
            </a:r>
          </a:p>
          <a:p>
            <a:r>
              <a:t>IR memo · partner deep-dive order: FAQ 28→3→23→29→30·main deck p13·18→20→31→16 (not in public FAQ PDF—notes only).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 appendix · Slide 4: Why win</a:t>
            </a:r>
          </a:p>
          <a:p>
            <a:r>
              <a:t>IC / Partner Summary mode — complements the 15-slide main deck; do not replace Data Room diligence.</a:t>
            </a:r>
          </a:p>
          <a:p/>
          <a:p>
            <a:r>
              <a:t>IC-only scaffold; numbers and legal outcomes remain in signed + NDA materials.</a:t>
            </a:r>
          </a:p>
          <a:p/>
          <a:p>
            <a:r>
              <a:t>---</a:t>
            </a:r>
          </a:p>
          <a:p>
            <a:r>
              <a:t>Voice track follows slide 12; skip if no delta.</a:t>
            </a:r>
          </a:p>
          <a:p>
            <a:r>
              <a:t>Cross-ref: main deck **slide 11** roadmap (four qualitative tracks); this Why Win aligns with **slide 12** GTM.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 appendix · Slide 5: Key risks (qualitative)</a:t>
            </a:r>
          </a:p>
          <a:p>
            <a:r>
              <a:t>IC / Partner Summary mode — complements the 15-slide main deck; do not replace Data Room diligence.</a:t>
            </a:r>
          </a:p>
          <a:p/>
          <a:p>
            <a:r>
              <a:t>IC-only scaffold; numbers and legal outcomes remain in signed + NDA materials.</a:t>
            </a:r>
          </a:p>
          <a:p/>
          <a:p>
            <a:r>
              <a:t>---</a:t>
            </a:r>
          </a:p>
          <a:p>
            <a:r>
              <a:t>Do not re-read slide 11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 appendix · Slide 6: Competition &amp; moat</a:t>
            </a:r>
          </a:p>
          <a:p>
            <a:r>
              <a:t>IC / Partner Summary mode — complements the 15-slide main deck; do not replace Data Room diligence.</a:t>
            </a:r>
          </a:p>
          <a:p/>
          <a:p>
            <a:r>
              <a:t>IC-only scaffold; numbers and legal outcomes remain in signed + NDA materials.</a:t>
            </a:r>
          </a:p>
          <a:p/>
          <a:p>
            <a:r>
              <a:t>---</a:t>
            </a:r>
          </a:p>
          <a:p>
            <a:r>
              <a:t>Voice track follows slide 13; skip if no delta.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 appendix · Slide 7: Key DD questions (public boundary)</a:t>
            </a:r>
          </a:p>
          <a:p>
            <a:r>
              <a:t>IC / Partner Summary mode — complements the 15-slide main deck; do not replace Data Room diligence.</a:t>
            </a:r>
          </a:p>
          <a:p/>
          <a:p>
            <a:r>
              <a:t>IC-only scaffold; numbers and legal outcomes remain in signed + NDA materials.</a:t>
            </a:r>
          </a:p>
          <a:p/>
          <a:p>
            <a:r>
              <a:t>---</a:t>
            </a:r>
          </a:p>
          <a:p>
            <a:r>
              <a:t>Voice track follows slide 15; skip if no delta.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 appendix · Slide 8: Investment conclusion scaffold (not advice)</a:t>
            </a:r>
          </a:p>
          <a:p>
            <a:r>
              <a:t>IC / Partner Summary mode — complements the 15-slide main deck; do not replace Data Room diligence.</a:t>
            </a:r>
          </a:p>
          <a:p/>
          <a:p>
            <a:r>
              <a:t>IC-only scaffold; numbers and legal outcomes remain in signed + NDA materials.</a:t>
            </a:r>
          </a:p>
          <a:p/>
          <a:p>
            <a:r>
              <a:t>---</a:t>
            </a:r>
          </a:p>
          <a:p>
            <a:r>
              <a:t>Internal IC scaffolding only; not an offer, valuation, or recommendation.</a:t>
            </a:r>
          </a:p>
          <a:p>
            <a:r>
              <a:t>DD cadence: after NDA, schedule counterpart meeting + time-boxed index to 06/07 materials (not a valuation promise).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384048"/>
            <a:ext cx="113141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DD4BF"/>
                </a:solidFill>
                <a:latin typeface="Segoe UI"/>
              </a:defRPr>
            </a:pPr>
            <a:r>
              <a:t>CONFIDENTIAL · QUALIFIED CONVERSATIONS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13232"/>
            <a:ext cx="3686047" cy="2743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960120"/>
            <a:ext cx="9407143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Partner Summary / IC Memo</a:t>
            </a:r>
          </a:p>
          <a:p>
            <a:pPr>
              <a:spcBef>
                <a:spcPts val="400"/>
              </a:spcBef>
              <a:defRPr sz="2200">
                <a:solidFill>
                  <a:srgbClr val="2DD4BF"/>
                </a:solidFill>
                <a:latin typeface="Segoe UI"/>
              </a:defRPr>
            </a:pPr>
            <a:r>
              <a:t>TravelTrust</a:t>
            </a:r>
          </a:p>
          <a:p>
            <a:pPr>
              <a:spcBef>
                <a:spcPts val="400"/>
              </a:spcBef>
              <a:defRPr sz="2200">
                <a:solidFill>
                  <a:srgbClr val="E2E8F0"/>
                </a:solidFill>
                <a:latin typeface="Segoe UI"/>
              </a:defRPr>
            </a:pPr>
            <a:r>
              <a:t>Pre-partner meeting memo · aligned with main deck &amp; whitepaper · no new disclosed numbers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5806440"/>
            <a:ext cx="2377440" cy="347472"/>
          </a:xfrm>
          <a:prstGeom prst="roundRect">
            <a:avLst>
              <a:gd name="adj" fmla="val 35000"/>
            </a:avLst>
          </a:prstGeom>
          <a:solidFill>
            <a:srgbClr val="F1F5F9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TravelTrust IR · Release 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TravelTrust · General information only — not an offer · 1.3     ·    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Segoe UI"/>
              </a:defRPr>
            </a:pPr>
            <a:r>
              <a:t>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Segoe UI"/>
              </a:defRPr>
            </a:pPr>
            <a:r>
              <a:t>Why now (qualitative)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69848"/>
            <a:ext cx="11314175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Delay cost (qualitative): fragmented distribution—another quarter without travel-grade fulfillment state is another quarter of recon/dispute drag; **not** a performance promise.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TravelTrust · IC appendix · Release 1.3 · General information only — not an offer     ·    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Segoe UI"/>
              </a:defRPr>
            </a:pPr>
            <a:r>
              <a:t>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Segoe UI"/>
              </a:defRPr>
            </a:pPr>
            <a:r>
              <a:t>Why 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69848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Platform earns fees &amp; take; trip principal isn’t our own income; TTG votes—not trip pay.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0007" y="1069848"/>
            <a:ext cx="5593079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Disclosure cadence: published releases + version/env labels (details: Whitepaper).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2596896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Public “upside” line: TTG is **governance process tooling**, not trip checkout—**no valuation bars** in the pack; see **FAQ #31**.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TravelTrust · IC appendix · Release 1.3 · General information only — not an offer     ·    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Segoe UI"/>
              </a:defRPr>
            </a:pPr>
            <a:r>
              <a:t>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Segoe UI"/>
              </a:defRPr>
            </a:pPr>
            <a:r>
              <a:t>Why 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69848"/>
            <a:ext cx="11314175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Conclusion (qualitative): growth is built from publishable channel pilots plus supply-side fulfillment/DMC readiness on a disclosure cadence—not “volume first, disclosures later.”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Full framing on main deck **slide 12**; this page is an IC outline only.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TravelTrust · IC appendix · Release 1.3 · General information only — not an offer     ·    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Segoe UI"/>
              </a:defRPr>
            </a:pPr>
            <a:r>
              <a:t>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Segoe UI"/>
              </a:defRPr>
            </a:pPr>
            <a:r>
              <a:t>Key risks (qualitative)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69848"/>
            <a:ext cx="11314175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Conclusion (qualitative): key stage risk is whether disclosure cadence, environment labels, and compliance/ops milestones are third-party replayable—not a single “missing feature” bet.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Same rail as Whitepaper (doc **06**) §11 and main deck **slide 11**; IC one-liner only.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TravelTrust · IC appendix · Release 1.3 · General information only — not an offer     ·    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Segoe UI"/>
              </a:defRPr>
            </a:pPr>
            <a:r>
              <a:t>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Competition &amp; moat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69848"/>
            <a:ext cx="11314175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Conclusion (qualitative): the moat is evidence + escrow + disputes at travel-order grain plus switching costs—not rebuilding a generic payment rail.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Full matrix on main deck **slide 13**; this page is an IC outline only.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TravelTrust · IC appendix · Release 1.3 · General information only — not an offer     ·    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Segoe UI"/>
              </a:defRPr>
            </a:pPr>
            <a:r>
              <a:t>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Segoe UI"/>
              </a:defRPr>
            </a:pPr>
            <a:r>
              <a:t>Key DD questions (public boundary)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69848"/>
            <a:ext cx="5554675" cy="26060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127000" tIns="152400"/>
          <a:lstStyle/>
          <a:p>
            <a:pPr algn="ctr">
              <a:defRPr sz="1300">
                <a:solidFill>
                  <a:srgbClr val="0F172A"/>
                </a:solidFill>
                <a:latin typeface="Segoe UI"/>
              </a:defRPr>
            </a:pPr>
            <a:r>
              <a:t>Conclusion (qualitative): the public boundary stops at post-meeting read order and quant/legal text under NDA—don’t expand verbally into commitments.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069848"/>
            <a:ext cx="45720" cy="26060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60007" y="1069848"/>
            <a:ext cx="5554675" cy="26060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127000" tIns="152400"/>
          <a:lstStyle/>
          <a:p>
            <a:pPr algn="ctr">
              <a:defRPr sz="1300">
                <a:solidFill>
                  <a:srgbClr val="0F172A"/>
                </a:solidFill>
                <a:latin typeface="Segoe UI"/>
              </a:defRPr>
            </a:pPr>
            <a:r>
              <a:t>Full close on main deck **slide 15**; this page is an IC outline only.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0007" y="1069848"/>
            <a:ext cx="45720" cy="26060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TravelTrust · IC appendix · Release 1.3 · General information only — not an offer     ·    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Segoe UI"/>
              </a:defRPr>
            </a:pPr>
            <a:r>
              <a:t>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Segoe UI"/>
              </a:defRPr>
            </a:pPr>
            <a:r>
              <a:t>Investment conclusion scaffold (not advice)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69848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Slot A: conviction on long-term travel trust/fulfillment stack demand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0007" y="1069848"/>
            <a:ext cx="5593079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Slot B: acceptance of demo-gated disclosure and current-stage risk/reward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2596896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Slot C: next step — deeper materials (06/07) and terms only post-NDA + signatures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TravelTrust · IC appendix · Release 1.3 · General information only — not an offer     ·    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