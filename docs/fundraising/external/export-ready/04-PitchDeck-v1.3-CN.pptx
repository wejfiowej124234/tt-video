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第1页：TravelTrust</a:t>
            </a:r>
          </a:p>
          <a:p>
            <a:r>
              <a:t>上屏三行副标题：产品一句、能力一句、边界一句；定义见第 2 页。</a:t>
            </a:r>
          </a:p>
          <a:p/>
          <a:p>
            <a:r>
              <a:t>二次转述用短句；不引未公开数字与进展；不替管理层承诺。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第2页：TravelTrust</a:t>
            </a:r>
          </a:p>
          <a:p>
            <a:r>
              <a:t>上屏两句：定义 + 边界；定位与「不争一夜替代存量」仅在 Notes，避免第 2 屏过载。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定位（仅 Notes）：平台体验 + 可嵌入托管/争议基建；不争「一夜替代存量 OTA」—与第 9 页总括同向，不在此屏堆叠。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第3页：核心痛点</a:t>
            </a:r>
          </a:p>
          <a:p>
            <a:r>
              <a:t>三问：信息对不上；出了事扯不清；两笔钱是不是两本账。</a:t>
            </a:r>
          </a:p>
          <a:p/>
          <a:p>
            <a:r>
              <a:t>二次转述用短句；不引未公开数字与进展；不替管理层承诺。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第4页：用户履约闭环｜单笔订单：交付与争议对齐（同一单笔｜不讲费项拆分）</a:t>
            </a:r>
          </a:p>
          <a:p>
            <a:r>
              <a:t>按环线复述单笔交易；对齐交付处可停顿。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讲者首句：这一页只回答一单在履约侧怎么走通；不讲池子与比例。</a:t>
            </a:r>
          </a:p>
          <a:p>
            <a:r>
              <a:t>图示为单笔交易闭环；勿补充材料未载明的数字。</a:t>
            </a:r>
          </a:p>
          <a:p>
            <a:r>
              <a:t>屏上矢量仅为心智模型；口播开头先念：当前演示/测试网或生产以已发布公告与环境标签为准（与第 7 页一致）。</a:t>
            </a:r>
          </a:p>
          <a:p>
            <a:r>
              <a:t>顺序：找到→下单→对齐交付→履约/争议→以已发布公告与披露为准。</a:t>
            </a:r>
          </a:p>
          <a:p>
            <a:r>
              <a:t>节奏与覆盖：以已发布公告与披露为准；勿暗示未公告范围、勿超出已披露表述。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第5页：控制面·协议栈与订单规则｜责任切片（同一单笔｜规则/披露/环境分层；非第二条用户动线）</a:t>
            </a:r>
          </a:p>
          <a:p>
            <a:r>
              <a:t>纵向栈：同一单笔的责任切片（控制层）；不加材料外的数字。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讲者首句：仍是同一单笔；这一页回答控制面怎么分层——不是另一条业务流程。</a:t>
            </a:r>
          </a:p>
          <a:p>
            <a:r>
              <a:t>与上页同一单笔；纵向栈示意责任切片（控制层）；勿引入材料未载明的量化表述。</a:t>
            </a:r>
          </a:p>
          <a:p>
            <a:r>
              <a:t>屏上五步栈若带缩写图例：口播先念环境标签全称，再解释层级；禁止暗示未公告已全量生产。</a:t>
            </a:r>
          </a:p>
          <a:p>
            <a:r>
              <a:t>五步顺序不变：找到→下单→对齐交付→履约/争议→以已发布公告与披露为准。</a:t>
            </a:r>
          </a:p>
          <a:p>
            <a:r>
              <a:t>节奏与覆盖：以已发布公告与披露为准；勿暗示未公告范围。命名与分配细节会后沟通；未公告前勿断言全面上线。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第6页：为何现在是现在（定性）</a:t>
            </a:r>
          </a:p>
          <a:p>
            <a:r>
              <a:t>时机页：四卡定性（需求/供给/监管/窗口）；无 TAM 硬数字；不作认购推介。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Timing 复读锚：窗口叙事与 06 已发布节号、公告日期、环境标签对读；行业比例表在 NDA。</a:t>
            </a:r>
          </a:p>
          <a:p>
            <a:r>
              <a:t>行业对比与数据表多在保密前提下讨论；本段不作认购推介。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第7页：三句话记住</a:t>
            </a:r>
          </a:p>
          <a:p>
            <a:r>
              <a:t>三条：怎么赚钱；TTG只投票、不付旅费；披露节奏：已发布公告与版本/环境标签（细则见白皮书）。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第一行：经常性收入来自服务费与抽成；旅费本金不计入平台自有收入。</a:t>
            </a:r>
          </a:p>
          <a:p>
            <a:r>
              <a:t>第二、三行见上屏字面；不在此页展开费项拆分。</a:t>
            </a:r>
          </a:p>
          <a:p>
            <a:r>
              <a:t>三条可独立复述；进一步拆分留至会后。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第8页：一笔订单：交付对齐了吗</a:t>
            </a:r>
          </a:p>
          <a:p>
            <a:r>
              <a:t>单笔从下单一路对齐交付；讲到哪一步，对照已发布公告与环境标签。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盯一单：从下单到对齐交付；讲到哪一步，勿超过已发布公告与环境标签所写范围。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第9页：系统性优势（投资视角·定性：信任栈可嵌入渠道；壁垒在披露与对账闭环）</a:t>
            </a:r>
          </a:p>
          <a:p>
            <a:r>
              <a:t>优势页：柱条五项复述；总括句仅在 Notes，不与第 4–5 页矢量抢戏。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总括（仅 Notes）：平台体验 + 可嵌入托管/争议基建；不争「一夜替代存量」。</a:t>
            </a:r>
          </a:p>
          <a:p>
            <a:r>
              <a:t>上屏为分项柱条，与第 4–5 页矢量主链同向复述。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第10页：已发布口径·披露边界（外环披露｜FeeRouter｜屏上仅已发布口径）</a:t>
            </a:r>
          </a:p>
          <a:p>
            <a:r>
              <a:t>披露边界页：屏上只守住 100/45/55；分母与白皮书/FAQ 一致，口播勿与 gas/罚没合并。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合伙人转述要点：</a:t>
            </a:r>
          </a:p>
          <a:p>
            <a:r>
              <a:t>讲者首句：这是披露边界第一层示意（外环披露）；先对齐分母，不讲营业账。</a:t>
            </a:r>
          </a:p>
          <a:p>
            <a:r>
              <a:t>披露口径边界示意；屏上只印 100/45/55。</a:t>
            </a:r>
          </a:p>
          <a:p>
            <a:r>
              <a:t>口播三句分母（与 FAQ / 白皮书一致）：披露·45% 与披露·55% 为可分配手续费第一层拆分；链上油费/仲裁/罚没不在同一分母。</a:t>
            </a:r>
          </a:p>
          <a:p>
            <a:r>
              <a:t>披露·45%：一国一桶；桶里再切在网签。</a:t>
            </a:r>
          </a:p>
          <a:p>
            <a:r>
              <a:t>披露·55%：Global Pool；再切在网签。</a:t>
            </a:r>
          </a:p>
          <a:p>
            <a:r>
              <a:t>链上油费/仲裁不是这盘账；别拿 45/55 硬套；抠字翻白皮书/FAQ。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第11页：进展与路线图（定性）</a:t>
            </a:r>
          </a:p>
          <a:p>
            <a:r>
              <a:t>路线图页：四轨定性，方向非排期承诺；数字须带来源与错境标签。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四条并进：产品稳、链上按国开、市场跑、合规拆开。</a:t>
            </a:r>
          </a:p>
          <a:p>
            <a:r>
              <a:t>四轨为方向叙事与披露节奏，不构成业绩承诺或排期保证。</a:t>
            </a:r>
          </a:p>
          <a:p>
            <a:r>
              <a:t>数字须可溯源（来源、日期、环境标签）；口头数字与财务材料一致；条款以白皮书为准。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Go-to-Market</a:t>
            </a:r>
          </a:p>
          <a:p>
            <a:r>
              <a:t>Story arc: WhyWin (Problem→WhyNow→WhyUs→WhyWin→DD→Close map)</a:t>
            </a:r>
          </a:p>
          <a:p>
            <a:r>
              <a:t>Investor moment: excitement (cognitive→belief→evidence→excitement→diligence→convert)</a:t>
            </a:r>
          </a:p>
          <a:p>
            <a:r>
              <a:t>Scan pattern: F-layout (F=left-heavy; Z=corner anchors; center=diagram)</a:t>
            </a:r>
          </a:p>
          <a:p>
            <a:r>
              <a:t>Motion (optional in Keynote/PPT): GTM = execution proof; keep claims procedural not promotional.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渠道试点须公示；渠道分区域试点；四线叙事保持一致；对外引用预先核对。</a:t>
            </a:r>
          </a:p>
          <a:p>
            <a:r>
              <a:t>本页为打法与渠道定性，不构成收入或份额承诺。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竞争矩阵（定性）</a:t>
            </a:r>
          </a:p>
          <a:p>
            <a:r>
              <a:t>Story arc: WhyWin (Problem→WhyNow→WhyUs→WhyWin→DD→Close map)</a:t>
            </a:r>
          </a:p>
          <a:p>
            <a:r>
              <a:t>Investor moment: excitement (cognitive→belief→evidence→excitement→diligence→convert)</a:t>
            </a:r>
          </a:p>
          <a:p>
            <a:r>
              <a:t>Scan pattern: F-layout (F=left-heavy; Z=corner anchors; center=diagram)</a:t>
            </a:r>
          </a:p>
          <a:p>
            <a:r>
              <a:t>Motion (optional in Keynote/PPT): Matrix: three columns one pass; footer fee line explicit.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费用/分配等对外表述须与同版本白皮书一致；口头对比以白皮书 + 保密材料为准。</a:t>
            </a:r>
          </a:p>
          <a:p>
            <a:r>
              <a:t>真要细比：拿白皮书和保密里那份表说话。</a:t>
            </a:r>
          </a:p>
          <a:p>
            <a:r>
              <a:t>IR 备忘·合伙人会深问顺序：FAQ 28→3→23→29→30→本页→18→20→31→16（对外 FAQ PDF 无导航行，仅 Notes 使用）。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典型旅程</a:t>
            </a:r>
          </a:p>
          <a:p>
            <a:r>
              <a:t>Story arc: ProofStack (Problem→WhyNow→WhyUs→WhyWin→DD→Close map)</a:t>
            </a:r>
          </a:p>
          <a:p>
            <a:r>
              <a:t>Investor moment: evidence (cognitive→belief→evidence→excitement→diligence→convert)</a:t>
            </a:r>
          </a:p>
          <a:p>
            <a:r>
              <a:t>Scan pattern: Z-layout (F=left-heavy; Z=corner anchors; center=diagram)</a:t>
            </a:r>
          </a:p>
          <a:p>
            <a:r>
              <a:t>Motion (optional in Keynote/PPT): Journey: left milestones → center fulfillment → right outcome.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细节见白皮书与保密材料。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诉求与下一步怎么聊</a:t>
            </a:r>
          </a:p>
          <a:p>
            <a:r>
              <a:t>Story arc: Close (Problem→WhyNow→WhyUs→WhyWin→DD→Close map)</a:t>
            </a:r>
          </a:p>
          <a:p>
            <a:r>
              <a:t>Investor moment: convert (cognitive→belief→evidence→excitement→diligence→convert)</a:t>
            </a:r>
          </a:p>
          <a:p>
            <a:r>
              <a:t>Scan pattern: Z-layout (F=left-heavy; Z=corner anchors; center=diagram)</a:t>
            </a:r>
          </a:p>
          <a:p>
            <a:r>
              <a:t>Motion (optional in Keynote/PPT): Closing: asks + DD routing (FAQ, whitepaper, pack order); pause for questions.</a:t>
            </a:r>
          </a:p>
          <a:p/>
          <a:p>
            <a:r>
              <a:t>二次转述用短句；不引未公开数字与进展；不替管理层承诺。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常见讨论：平台与基础设施路径并存；产品侧重可嵌入履约与争议能力。</a:t>
            </a:r>
          </a:p>
          <a:p>
            <a:r>
              <a:t>治理信号与订单旅资分轨；链上与运行环境细节在保密沟通范围内展开。</a:t>
            </a:r>
          </a:p>
          <a:p>
            <a:r>
              <a:t>非实时清结算：45/55 与罚没/仲裁费用分母不同；口头叙述避免合并。</a:t>
            </a:r>
          </a:p>
          <a:p>
            <a:r>
              <a:t>定量与法律文本在保密协议后提供；以签署文本为准。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84048"/>
            <a:ext cx="11314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D4BF"/>
                </a:solidFill>
                <a:latin typeface="Microsoft YaHei"/>
              </a:defRPr>
            </a:pPr>
            <a:r>
              <a:t>保密 · 仅供合格对话方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3686047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9407143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TravelTrust</a:t>
            </a:r>
          </a:p>
          <a:p>
            <a:pPr>
              <a:spcBef>
                <a:spcPts val="400"/>
              </a:spcBef>
              <a:defRPr sz="2000">
                <a:solidFill>
                  <a:srgbClr val="2DD4BF"/>
                </a:solidFill>
                <a:latin typeface="Microsoft YaHei"/>
              </a:defRPr>
            </a:pPr>
            <a:r>
              <a:t>旅行订单金融科技</a:t>
            </a:r>
          </a:p>
          <a:p>
            <a:pPr>
              <a:spcBef>
                <a:spcPts val="400"/>
              </a:spcBef>
              <a:defRPr sz="2000">
                <a:solidFill>
                  <a:srgbClr val="E2E8F0"/>
                </a:solidFill>
                <a:latin typeface="Microsoft YaHei"/>
              </a:defRPr>
            </a:pPr>
            <a:r>
              <a:t>托管 · 履约 · 争议同链</a:t>
            </a:r>
          </a:p>
          <a:p>
            <a:pPr>
              <a:spcBef>
                <a:spcPts val="400"/>
              </a:spcBef>
              <a:defRPr sz="1700">
                <a:solidFill>
                  <a:srgbClr val="E2E8F0"/>
                </a:solidFill>
                <a:latin typeface="Microsoft YaHei"/>
              </a:defRPr>
            </a:pPr>
            <a:r>
              <a:t>以已发布公告与白皮书为边界</a:t>
            </a:r>
          </a:p>
          <a:p>
            <a:pPr>
              <a:spcBef>
                <a:spcPts val="400"/>
              </a:spcBef>
              <a:defRPr sz="1700">
                <a:solidFill>
                  <a:srgbClr val="E2E8F0"/>
                </a:solidFill>
                <a:latin typeface="Microsoft YaHei"/>
              </a:defRPr>
            </a:pPr>
            <a:r>
              <a:t>误读防火墙：单笔订单信托责+托管/争议；非旅费支付、非大盘 OTA、非代币募资页（口径同 06 / FAQ）。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5806440"/>
            <a:ext cx="2377440" cy="347472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TravelTrust IR · 版本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一般性信息 — 非要约 — 1.3     ·   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TravelTrust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旅行订单金融科技：围绕单笔订单对齐交付与争议。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边界：旅费本金与平台经常性收入分列披露；定量与条款以白皮书 + NDA 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跟投锚（定性）：分销碎片化下，单笔订单级「资金状态 + 履约/争议」可对账、可审计的硬需求；以下页为同一单笔主链递进。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Why us（定性）：旅资状态机·服务费·治理三轨与 06 / FAQ 同句可读；非旅费支付中台叙事。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362203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信息对不上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2975" y="1069848"/>
            <a:ext cx="362203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争议难审计、对账成本高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7039" y="1069848"/>
            <a:ext cx="3686047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订单资金状态：客人侧与平台侧是否两本账？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用户履约闭环｜单笔订单：交付与争议对齐（同一单笔｜不讲费项拆分）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789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2296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控制层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46888"/>
            <a:ext cx="1131417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控制面·协议栈与订单规则｜责任切片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（同一单笔｜规则/披露/环境分层；非第二条用户动线）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07008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207008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找到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48256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048256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下单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89504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889504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对齐交付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30752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730752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有事处理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72000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4572000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随已发布披露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时机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为何现在是现在（定性）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需求：客人要听得真，不要吹。（结构见 06 §2.4）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供给：名声带走；披露随已发布公告。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监管：订单资金状态与平台服务费分开走。（口径见 06）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窗口：分销碎，先对齐交付再接。（同节窗口论述）可复读：06 已发布节号 + 公告日期 + 环境标签。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三句话记住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平台赚服务费、抽成；旅费不算平台自有收入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治理信号：只投票；非旅费支付工具。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披露节奏：已发布公告与版本/环境标签（细则见白皮书）·壁垒侧重披露与对账可复读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看一单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一笔订单：交付对齐了吗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一单从下单一路对齐交付？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进度与边界：对照已发布公告与环境标签。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材料：同包 FAQ / 白皮书；口头不合并 45/55 与其他费用分母。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系统性优势（投资视角·定性：信任栈可嵌入渠道；壁垒在披露与对账闭环）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1727809" cy="1691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履约侧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5943" y="1069848"/>
            <a:ext cx="1727809" cy="1691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订单对齐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2975" y="1069848"/>
            <a:ext cx="1727809" cy="1691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交付与争议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1069848"/>
            <a:ext cx="1727809" cy="1691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出事收口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7039" y="1069848"/>
            <a:ext cx="1727809" cy="16916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778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随已发布公告/标签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789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2296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披露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46888"/>
            <a:ext cx="1131417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已发布口径·披露边界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00" b="0">
                <a:solidFill>
                  <a:srgbClr val="CBD5E1"/>
                </a:solidFill>
                <a:latin typeface="Microsoft YaHei"/>
              </a:defRPr>
            </a:pPr>
            <a:r>
              <a:t>（外环披露｜FeeRouter｜屏上仅已发布口径）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560320"/>
            <a:ext cx="0" cy="201168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291839" y="2761488"/>
            <a:ext cx="2743201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2761488"/>
            <a:ext cx="283464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39" y="2761488"/>
            <a:ext cx="0" cy="64008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761488"/>
            <a:ext cx="0" cy="64008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600200"/>
            <a:ext cx="5120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2540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披露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协议经济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100%（白皮书）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788920"/>
            <a:ext cx="4389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45%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可分配手续费·国桶（第一层）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45720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55%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可分配手续费·Global Pool（第一层）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5818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披露边界示意（非利润分配图；非旅费支付/代币募资通道图；屏上为已发布口径）· 非实时清结算口径；与 gas、仲裁、罚没分母正交（详 Notes / 白皮书）。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进展与路线图（定性）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形态：公示→试点→扩面（定性；无日期承诺）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45336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产品：主路径能力迭代与稳定性（定性）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020824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链上：按国/按环境逐步打开；对照已发布公告与环境标签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496312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市场：渠道试点与披露节奏对齐（试点名以已公告为准，可复读）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971800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合规与运营节奏：季度量化与内部里程碑在 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Go-to-Market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供给：KYB+履约+培训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需求：披露口径+渠道试点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渠道：把合作摊开说 · 订单资金状态分开算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切入：向导/DMC 区域试点先行（定性；披露节奏随已发布公告）；阶段赢=试点与披露同轨可审计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竞争矩阵（定性）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069848"/>
            <a:ext cx="3686047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Web2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600200"/>
            <a:ext cx="3686047" cy="248716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争议弱</a:t>
            </a:r>
            <a:br/>
            <a:r>
              <a:t>典型：对账/争议难审计、约束弱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2975" y="1069848"/>
            <a:ext cx="3686047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链上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2975" y="1600200"/>
            <a:ext cx="3686047" cy="248716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缺履约栈</a:t>
            </a:r>
            <a:br/>
            <a:r>
              <a:t>典型：缺旅行订单态+托管一体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7039" y="1069848"/>
            <a:ext cx="3686047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TravelTrust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7039" y="1600200"/>
            <a:ext cx="3686047" cy="248716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履约栈</a:t>
            </a:r>
            <a:br/>
            <a:r>
              <a:t>典型：证据+托管+争议一体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215384"/>
            <a:ext cx="11314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0">
                <a:solidFill>
                  <a:srgbClr val="64748B"/>
                </a:solidFill>
                <a:latin typeface="Microsoft YaHei"/>
              </a:defRPr>
            </a:pPr>
            <a:r>
              <a:t>模仿成本：披露·对账·客服·嵌入切换—见 §10.2；非一夜可抄。</a:t>
            </a:r>
            <a:br/>
            <a:r>
              <a:t>「垂直 SaaS 拼盘？」：难在同一旅行订单 ID 下串齐证据→托管→争议→信誉；口径见同包 FAQ 30。</a:t>
            </a:r>
            <a:br/>
            <a:r>
              <a:t>披露：以白皮书已发布口径为准；细分对照在 NDA 沟通范围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典型旅程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Alex↔Sam（化名）：里程碑与报价→入托管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履约证明与释放/裁决分支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非实时清结算·45/55 脚注（分母见白皮书）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教学案例·非单一真实订单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诉求与下一步怎么聊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诉求：信任结构 · 履约 · 生态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披露与节奏：以已发布公告与环境标签为准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下一步：平台路径 vs 基建嵌入可并行对齐；定量与法律文本走 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会后阅读顺序：FAQ → 白皮书（第一层披露勿与链上操作费/罚没口头混谈）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4123944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「DD 增量」索引（NDA 内）：06 对照表 + 环境矩阵 + 渠道试点清单 — 仅索引，不给未披露数字。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1.3 · 一般性信息 — 非要约     ·   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